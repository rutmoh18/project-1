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layfair Display Semi Bold"/>
      <p:regular r:id="rId17"/>
    </p:embeddedFont>
    <p:embeddedFont>
      <p:font typeface="Playfair Display Semi Bold"/>
      <p:regular r:id="rId18"/>
    </p:embeddedFont>
    <p:embeddedFont>
      <p:font typeface="Playfair Display Semi Bold"/>
      <p:regular r:id="rId19"/>
    </p:embeddedFont>
    <p:embeddedFont>
      <p:font typeface="Playfair Display Semi Bold"/>
      <p:regular r:id="rId20"/>
    </p:embeddedFont>
    <p:embeddedFont>
      <p:font typeface="Public Sans"/>
      <p:regular r:id="rId21"/>
    </p:embeddedFont>
    <p:embeddedFont>
      <p:font typeface="Public Sans"/>
      <p:regular r:id="rId22"/>
    </p:embeddedFont>
    <p:embeddedFont>
      <p:font typeface="Public Sans"/>
      <p:regular r:id="rId23"/>
    </p:embeddedFont>
    <p:embeddedFont>
      <p:font typeface="Public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5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6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Production-Ready Scalable Web Architecture on AWS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Presented by: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Ritik Mohadikar, AWS Cloud Engineer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1161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74025"/>
            <a:ext cx="4196358" cy="4043958"/>
          </a:xfrm>
          <a:prstGeom prst="roundRect">
            <a:avLst>
              <a:gd name="adj" fmla="val 2356"/>
            </a:avLst>
          </a:prstGeom>
          <a:solidFill>
            <a:srgbClr val="F0DEDC"/>
          </a:solidFill>
          <a:ln w="7620">
            <a:solidFill>
              <a:srgbClr val="E1C2C2"/>
            </a:solidFill>
            <a:prstDash val="solid"/>
          </a:ln>
          <a:effectLst>
            <a:outerShdw sx="100000" sy="100000" kx="0" ky="0" algn="bl" rotWithShape="0" blurRad="0" dist="29210" dir="2700000">
              <a:srgbClr val="e1c2c2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28224" y="290845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1C2C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3095506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815715"/>
            <a:ext cx="31400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Production Architecture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4306133"/>
            <a:ext cx="372749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Designed and implemented a scalable web application architecture using multiple AWS services, built to production standards with high availability and fault tolerance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674025"/>
            <a:ext cx="4196358" cy="4043958"/>
          </a:xfrm>
          <a:prstGeom prst="roundRect">
            <a:avLst>
              <a:gd name="adj" fmla="val 2356"/>
            </a:avLst>
          </a:prstGeom>
          <a:solidFill>
            <a:srgbClr val="F0DEDC"/>
          </a:solidFill>
          <a:ln w="7620">
            <a:solidFill>
              <a:srgbClr val="CCC4EC"/>
            </a:solidFill>
            <a:prstDash val="solid"/>
          </a:ln>
          <a:effectLst>
            <a:outerShdw sx="100000" sy="100000" kx="0" ky="0" algn="bl" rotWithShape="0" blurRad="0" dist="29210" dir="2700000">
              <a:srgbClr val="ccc4ec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51396" y="290845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CCC4E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562" y="3095506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Security First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4306133"/>
            <a:ext cx="37274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Implemented layered security with proper access controls, security group chaining, and network isolation to protect application components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674025"/>
            <a:ext cx="4196358" cy="4043958"/>
          </a:xfrm>
          <a:prstGeom prst="roundRect">
            <a:avLst>
              <a:gd name="adj" fmla="val 2356"/>
            </a:avLst>
          </a:prstGeom>
          <a:solidFill>
            <a:srgbClr val="F0DEDC"/>
          </a:solidFill>
          <a:ln w="7620">
            <a:solidFill>
              <a:srgbClr val="B4DAE4"/>
            </a:solidFill>
            <a:prstDash val="solid"/>
          </a:ln>
          <a:effectLst>
            <a:outerShdw sx="100000" sy="100000" kx="0" ky="0" algn="bl" rotWithShape="0" blurRad="0" dist="29210" dir="2700000">
              <a:srgbClr val="b4dae4">
                <a:alpha val="10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874568" y="290845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B4DAE4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1734" y="3095506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Auto Scaling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4306133"/>
            <a:ext cx="37274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Built dynamic infrastructure that automatically scales based on demand, ensuring optimal performance during traffic spikes while controlling costs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45375"/>
            <a:ext cx="78951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Why This Architecture Matters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21129"/>
            <a:ext cx="544199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Traditional Single Server Problems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973235"/>
            <a:ext cx="624470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Single point of failure brings entire system down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Limited scalability during traffic surges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 automatic load distribution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Manual intervention required for scaling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Data persistence issues on instance failure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321129"/>
            <a:ext cx="401324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Production Requirements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599521" y="3973235"/>
            <a:ext cx="624470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High availability across multiple data centers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Automatic scaling based on demand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Secure, encrypted communications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Persistent data storage across instances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Fault-tolerant, self-healing infrastructure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73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AWS Service Stack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055138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20551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Amazon EC2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2545556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Elastic Compute Cloud for web server instances, running Apache web server hosting the application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055138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2055138"/>
            <a:ext cx="34194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Application Load Balancer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07348" y="2545556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Distributes incoming traffic across multiple EC2 instances, ensuring even load distribution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3724989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3724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Amazon EFS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44253" y="4215408"/>
            <a:ext cx="552914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Elastic File System providing shared storage mounted across all EC2 instances for data persistence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3724989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3724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Auto Scaling Group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07348" y="4215408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Automatically adjusts number of EC2 instances based on traffic demand, from 0 to 5 instances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5757743"/>
            <a:ext cx="566976" cy="5669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44253" y="57577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Virtual Private Cloud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1644253" y="6248162"/>
            <a:ext cx="552914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Isolated network with public and private subnets, Internet Gateway, and NAT Gateway for secure connectivity</a:t>
            </a:r>
            <a:endParaRPr lang="en-US" sz="17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56884" y="5757743"/>
            <a:ext cx="566976" cy="56697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307348" y="57577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Security Groups</a:t>
            </a:r>
            <a:endParaRPr lang="en-US" sz="2200" dirty="0"/>
          </a:p>
        </p:txBody>
      </p:sp>
      <p:sp>
        <p:nvSpPr>
          <p:cNvPr id="20" name="Text 12"/>
          <p:cNvSpPr/>
          <p:nvPr/>
        </p:nvSpPr>
        <p:spPr>
          <a:xfrm>
            <a:off x="8307348" y="6248162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Layered firewall rules implementing least-privilege access between all components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43551"/>
            <a:ext cx="59770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Architecture Data Flow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792492"/>
            <a:ext cx="7556421" cy="3693557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92398" y="3672297"/>
            <a:ext cx="270752" cy="27075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365893" y="4063321"/>
            <a:ext cx="1761606" cy="220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Client → ALB</a:t>
            </a:r>
            <a:endParaRPr lang="en-US" sz="135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83706" y="4213800"/>
            <a:ext cx="270752" cy="270752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5147474" y="3217750"/>
            <a:ext cx="1761605" cy="220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ALB → Target Groups</a:t>
            </a:r>
            <a:endParaRPr lang="en-US" sz="135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73024" y="5350959"/>
            <a:ext cx="270752" cy="270752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6016410" y="4955868"/>
            <a:ext cx="1761606" cy="220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Target → Auto Scaling</a:t>
            </a:r>
            <a:endParaRPr lang="en-US" sz="1350" dirty="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81837" y="4840398"/>
            <a:ext cx="270752" cy="270752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2227123" y="5817097"/>
            <a:ext cx="1761606" cy="220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EC2s → Amazon EFS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2495" y="879991"/>
            <a:ext cx="5000982" cy="57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Implementation Details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912495" y="1763554"/>
            <a:ext cx="185499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912495" y="2055971"/>
            <a:ext cx="6326743" cy="22860"/>
          </a:xfrm>
          <a:prstGeom prst="rect">
            <a:avLst/>
          </a:prstGeom>
          <a:solidFill>
            <a:srgbClr val="E1C2C2"/>
          </a:solidFill>
          <a:ln/>
        </p:spPr>
      </p:sp>
      <p:sp>
        <p:nvSpPr>
          <p:cNvPr id="5" name="Text 3"/>
          <p:cNvSpPr/>
          <p:nvPr/>
        </p:nvSpPr>
        <p:spPr>
          <a:xfrm>
            <a:off x="912495" y="2194441"/>
            <a:ext cx="231981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VPC Configuration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2495" y="2575441"/>
            <a:ext cx="6326743" cy="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Created custom VPC with public subnets for ALB and private subnets for EC2 instances. Configured Internet Gateway for public access and NAT Gateway for outbound connectivity from private instances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91043" y="1763554"/>
            <a:ext cx="185499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91043" y="2055971"/>
            <a:ext cx="6326862" cy="22860"/>
          </a:xfrm>
          <a:prstGeom prst="rect">
            <a:avLst/>
          </a:prstGeom>
          <a:solidFill>
            <a:srgbClr val="CCC4EC"/>
          </a:solidFill>
          <a:ln/>
        </p:spPr>
      </p:sp>
      <p:sp>
        <p:nvSpPr>
          <p:cNvPr id="9" name="Text 7"/>
          <p:cNvSpPr/>
          <p:nvPr/>
        </p:nvSpPr>
        <p:spPr>
          <a:xfrm>
            <a:off x="7391043" y="2194441"/>
            <a:ext cx="231981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EC2 &amp; Web Server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91043" y="2575441"/>
            <a:ext cx="6326862" cy="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Launched Amazon Linux 2 EC2 instance, installed Apache web server, configured security groups, and deployed web application code to serve user requests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12495" y="3676174"/>
            <a:ext cx="185499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12495" y="3968591"/>
            <a:ext cx="6326743" cy="22860"/>
          </a:xfrm>
          <a:prstGeom prst="rect">
            <a:avLst/>
          </a:prstGeom>
          <a:solidFill>
            <a:srgbClr val="B4DAE4"/>
          </a:solidFill>
          <a:ln/>
        </p:spPr>
      </p:sp>
      <p:sp>
        <p:nvSpPr>
          <p:cNvPr id="13" name="Text 11"/>
          <p:cNvSpPr/>
          <p:nvPr/>
        </p:nvSpPr>
        <p:spPr>
          <a:xfrm>
            <a:off x="912495" y="4107061"/>
            <a:ext cx="231981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EFS Integration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2495" y="4488061"/>
            <a:ext cx="6326743" cy="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Created EFS file system with mount targets in each Availability Zone, mounted storage on EC2 instances at boot time to ensure data persistence across instance lifecycle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391043" y="3676174"/>
            <a:ext cx="185499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91043" y="3968591"/>
            <a:ext cx="6326862" cy="22860"/>
          </a:xfrm>
          <a:prstGeom prst="rect">
            <a:avLst/>
          </a:prstGeom>
          <a:solidFill>
            <a:srgbClr val="E1C2C2"/>
          </a:solidFill>
          <a:ln/>
        </p:spPr>
      </p:sp>
      <p:sp>
        <p:nvSpPr>
          <p:cNvPr id="17" name="Text 15"/>
          <p:cNvSpPr/>
          <p:nvPr/>
        </p:nvSpPr>
        <p:spPr>
          <a:xfrm>
            <a:off x="7391043" y="4107061"/>
            <a:ext cx="231981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AMI &amp; Templates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91043" y="4488061"/>
            <a:ext cx="6326862" cy="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Created Amazon Machine Image from configured instance as golden template, built Launch Template specifying instance configuration for Auto Scaling Group deployment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12495" y="5588794"/>
            <a:ext cx="185499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12495" y="5881211"/>
            <a:ext cx="6326743" cy="22860"/>
          </a:xfrm>
          <a:prstGeom prst="rect">
            <a:avLst/>
          </a:prstGeom>
          <a:solidFill>
            <a:srgbClr val="CCC4EC"/>
          </a:solidFill>
          <a:ln/>
        </p:spPr>
      </p:sp>
      <p:sp>
        <p:nvSpPr>
          <p:cNvPr id="21" name="Text 19"/>
          <p:cNvSpPr/>
          <p:nvPr/>
        </p:nvSpPr>
        <p:spPr>
          <a:xfrm>
            <a:off x="912495" y="6019681"/>
            <a:ext cx="231981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Load Balancer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2495" y="6400681"/>
            <a:ext cx="6326743" cy="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Configured Application Load Balancer with listeners on ports 80 (production web app) and 8080 (test environment), with health checks to automatically detect failed instances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391043" y="5588794"/>
            <a:ext cx="185499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06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391043" y="5881211"/>
            <a:ext cx="6326862" cy="22860"/>
          </a:xfrm>
          <a:prstGeom prst="rect">
            <a:avLst/>
          </a:prstGeom>
          <a:solidFill>
            <a:srgbClr val="B4DAE4"/>
          </a:solidFill>
          <a:ln/>
        </p:spPr>
      </p:sp>
      <p:sp>
        <p:nvSpPr>
          <p:cNvPr id="25" name="Text 23"/>
          <p:cNvSpPr/>
          <p:nvPr/>
        </p:nvSpPr>
        <p:spPr>
          <a:xfrm>
            <a:off x="7391043" y="6019681"/>
            <a:ext cx="231981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Auto Scaling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391043" y="6400681"/>
            <a:ext cx="6326862" cy="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Set up Auto Scaling Group with desired capacity of 2 instances, minimum 0 and maximum 5, automatic instance replacement when health checks fail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14820" y="495657"/>
            <a:ext cx="4855369" cy="53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Security Implementation</a:t>
            </a:r>
            <a:endParaRPr lang="en-US" sz="3350" dirty="0"/>
          </a:p>
        </p:txBody>
      </p:sp>
      <p:sp>
        <p:nvSpPr>
          <p:cNvPr id="3" name="Shape 1"/>
          <p:cNvSpPr/>
          <p:nvPr/>
        </p:nvSpPr>
        <p:spPr>
          <a:xfrm>
            <a:off x="1414820" y="3353514"/>
            <a:ext cx="2422088" cy="2250162"/>
          </a:xfrm>
          <a:prstGeom prst="roundRect">
            <a:avLst>
              <a:gd name="adj" fmla="val 4876"/>
            </a:avLst>
          </a:prstGeom>
          <a:solidFill>
            <a:srgbClr val="FFFAF6"/>
          </a:solidFill>
          <a:ln w="22860">
            <a:solidFill>
              <a:srgbClr val="FFB393"/>
            </a:solidFill>
            <a:prstDash val="solid"/>
          </a:ln>
          <a:effectLst>
            <a:outerShdw sx="100000" sy="100000" kx="0" ky="0" algn="bl" rotWithShape="0" blurRad="0" dist="21590" dir="2700000">
              <a:srgbClr val="ffb393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91960" y="3353514"/>
            <a:ext cx="91440" cy="2250162"/>
          </a:xfrm>
          <a:prstGeom prst="roundRect">
            <a:avLst>
              <a:gd name="adj" fmla="val 78555"/>
            </a:avLst>
          </a:prstGeom>
          <a:solidFill>
            <a:srgbClr val="FFB393"/>
          </a:solidFill>
          <a:ln/>
        </p:spPr>
      </p:sp>
      <p:sp>
        <p:nvSpPr>
          <p:cNvPr id="5" name="Text 3"/>
          <p:cNvSpPr/>
          <p:nvPr/>
        </p:nvSpPr>
        <p:spPr>
          <a:xfrm>
            <a:off x="1677233" y="3547348"/>
            <a:ext cx="1965841" cy="534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Application Load Balancer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677233" y="4210883"/>
            <a:ext cx="1965841" cy="1198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Publicly accessible from Internet (0.0.0.0/0) on ports 80 and 8080. Accepts connections from any IP address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65853" y="3353514"/>
            <a:ext cx="2422208" cy="2250162"/>
          </a:xfrm>
          <a:prstGeom prst="roundRect">
            <a:avLst>
              <a:gd name="adj" fmla="val 4876"/>
            </a:avLst>
          </a:prstGeom>
          <a:solidFill>
            <a:srgbClr val="FFFAF6"/>
          </a:solidFill>
          <a:ln w="22860">
            <a:solidFill>
              <a:srgbClr val="421424"/>
            </a:solidFill>
            <a:prstDash val="solid"/>
          </a:ln>
          <a:effectLst>
            <a:outerShdw sx="100000" sy="100000" kx="0" ky="0" algn="bl" rotWithShape="0" blurRad="0" dist="21590" dir="2700000">
              <a:srgbClr val="421424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942993" y="3353514"/>
            <a:ext cx="91440" cy="2250162"/>
          </a:xfrm>
          <a:prstGeom prst="roundRect">
            <a:avLst>
              <a:gd name="adj" fmla="val 78555"/>
            </a:avLst>
          </a:prstGeom>
          <a:solidFill>
            <a:srgbClr val="421424"/>
          </a:solidFill>
          <a:ln/>
        </p:spPr>
      </p:sp>
      <p:sp>
        <p:nvSpPr>
          <p:cNvPr id="9" name="Text 7"/>
          <p:cNvSpPr/>
          <p:nvPr/>
        </p:nvSpPr>
        <p:spPr>
          <a:xfrm>
            <a:off x="4228267" y="3547348"/>
            <a:ext cx="1965960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EC2 Instances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228267" y="3943588"/>
            <a:ext cx="1965960" cy="1438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Accessible only from ALB security group on port 80. No direct Internet access, only receives traffic from load balancer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17005" y="3353514"/>
            <a:ext cx="2422088" cy="2250162"/>
          </a:xfrm>
          <a:prstGeom prst="roundRect">
            <a:avLst>
              <a:gd name="adj" fmla="val 4876"/>
            </a:avLst>
          </a:prstGeom>
          <a:solidFill>
            <a:srgbClr val="FFFAF6"/>
          </a:solidFill>
          <a:ln w="22860">
            <a:solidFill>
              <a:srgbClr val="FFB393"/>
            </a:solidFill>
            <a:prstDash val="solid"/>
          </a:ln>
          <a:effectLst>
            <a:outerShdw sx="100000" sy="100000" kx="0" ky="0" algn="bl" rotWithShape="0" blurRad="0" dist="21590" dir="2700000">
              <a:srgbClr val="ffb393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4145" y="3353514"/>
            <a:ext cx="91440" cy="2250162"/>
          </a:xfrm>
          <a:prstGeom prst="roundRect">
            <a:avLst>
              <a:gd name="adj" fmla="val 78555"/>
            </a:avLst>
          </a:prstGeom>
          <a:solidFill>
            <a:srgbClr val="FFB393"/>
          </a:solidFill>
          <a:ln/>
        </p:spPr>
      </p:sp>
      <p:sp>
        <p:nvSpPr>
          <p:cNvPr id="13" name="Text 11"/>
          <p:cNvSpPr/>
          <p:nvPr/>
        </p:nvSpPr>
        <p:spPr>
          <a:xfrm>
            <a:off x="6779419" y="3547348"/>
            <a:ext cx="1965841" cy="267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EFS Storage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779419" y="3943588"/>
            <a:ext cx="1965841" cy="1438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Accessible only from EC2 security group on port 2049 (NFS). Protected mount targets prevent unauthorized access</a:t>
            </a:r>
            <a:endParaRPr lang="en-US" sz="13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4028" y="1368385"/>
            <a:ext cx="3859054" cy="514540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364028" y="6658808"/>
            <a:ext cx="3859054" cy="959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Security Group Chaining: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Each component can only be accessed by the layer above it, implementing the principle of least privilege and defense in depth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136" y="577810"/>
            <a:ext cx="5065633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Testing &amp; Validation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136" y="1572935"/>
            <a:ext cx="1013103" cy="1215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03214" y="1775460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Application Access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903214" y="2200513"/>
            <a:ext cx="12018050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Verified web application loads correctly through ALB DNS address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36" y="2788682"/>
            <a:ext cx="1013103" cy="12157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03214" y="2991207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Load Balancing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1903214" y="3416260"/>
            <a:ext cx="12018050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Tested traffic distribution across multiple instances using session persistence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36" y="4004429"/>
            <a:ext cx="1013103" cy="1215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03214" y="4206954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Auto Scaling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903214" y="4632007"/>
            <a:ext cx="12018050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Simulated traffic to verify instances launch and terminate automatically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36" y="5220176"/>
            <a:ext cx="1013103" cy="12157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03214" y="5422702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Data Persistence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903214" y="5847755"/>
            <a:ext cx="12018050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Validated files remain in EFS after instance termination and replacement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36" y="6435923"/>
            <a:ext cx="1013103" cy="12157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03214" y="6638449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Fault Tolerance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1903214" y="7063502"/>
            <a:ext cx="12018050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Terminated EC2 instance manually, confirmed ALB routes to healthy instances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8512" y="1252538"/>
            <a:ext cx="3814167" cy="447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Challenges &amp; Solutions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07461" y="1880235"/>
            <a:ext cx="15240" cy="5096828"/>
          </a:xfrm>
          <a:prstGeom prst="roundRect">
            <a:avLst>
              <a:gd name="adj" fmla="val 394349"/>
            </a:avLst>
          </a:prstGeom>
          <a:solidFill>
            <a:srgbClr val="C7A8A8"/>
          </a:solidFill>
          <a:ln/>
        </p:spPr>
      </p:sp>
      <p:sp>
        <p:nvSpPr>
          <p:cNvPr id="4" name="Shape 2"/>
          <p:cNvSpPr/>
          <p:nvPr/>
        </p:nvSpPr>
        <p:spPr>
          <a:xfrm>
            <a:off x="2363272" y="1880235"/>
            <a:ext cx="4936569" cy="1138833"/>
          </a:xfrm>
          <a:prstGeom prst="roundRect">
            <a:avLst>
              <a:gd name="adj" fmla="val 5277"/>
            </a:avLst>
          </a:prstGeom>
          <a:solidFill>
            <a:srgbClr val="F0DEDC"/>
          </a:solidFill>
          <a:ln w="7620">
            <a:solidFill>
              <a:srgbClr val="FFB393"/>
            </a:solidFill>
            <a:prstDash val="solid"/>
          </a:ln>
          <a:effectLst>
            <a:outerShdw sx="100000" sy="100000" kx="0" ky="0" algn="bl" rotWithShape="0" blurRad="0" dist="17780" dir="2700000">
              <a:srgbClr val="ffb393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4290" y="2030849"/>
            <a:ext cx="3312557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Challenge: Data Loss on Instance Failure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13886" y="2308384"/>
            <a:ext cx="4642961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Solution:</a:t>
            </a:r>
            <a:pPr algn="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Implemented Amazon EFS for shared storage, ensuring data persists independently of EC2 instance lifecycle. Files remain accessible when new instances launch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30321" y="3199567"/>
            <a:ext cx="4936688" cy="1138833"/>
          </a:xfrm>
          <a:prstGeom prst="rect">
            <a:avLst/>
          </a:prstGeom>
          <a:solidFill>
            <a:srgbClr val="F0DEDC"/>
          </a:solidFill>
          <a:ln w="7620">
            <a:solidFill>
              <a:srgbClr val="421424"/>
            </a:solidFill>
            <a:prstDash val="solid"/>
          </a:ln>
          <a:effectLst>
            <a:outerShdw sx="100000" sy="100000" kx="0" ky="0" algn="bl" rotWithShape="0" blurRad="0" dist="17780" dir="2700000">
              <a:srgbClr val="421424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73315" y="3350181"/>
            <a:ext cx="3617952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Challenge: Traffic Overload on Single Server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73315" y="3627715"/>
            <a:ext cx="464308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Solution: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Deployed Application Load Balancer with multiple target groups, distributing incoming requests evenly across all healthy EC2 instances in rotation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63272" y="4518898"/>
            <a:ext cx="4936569" cy="1138833"/>
          </a:xfrm>
          <a:prstGeom prst="roundRect">
            <a:avLst>
              <a:gd name="adj" fmla="val 5277"/>
            </a:avLst>
          </a:prstGeom>
          <a:solidFill>
            <a:srgbClr val="F0DEDC"/>
          </a:solidFill>
          <a:ln w="7620">
            <a:solidFill>
              <a:srgbClr val="FFB393"/>
            </a:solidFill>
            <a:prstDash val="solid"/>
          </a:ln>
          <a:effectLst>
            <a:outerShdw sx="100000" sy="100000" kx="0" ky="0" algn="bl" rotWithShape="0" blurRad="0" dist="17780" dir="2700000">
              <a:srgbClr val="ffb393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99924" y="4669512"/>
            <a:ext cx="3956923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Challenge: Manual Scaling During Traffic Spikes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13886" y="4947047"/>
            <a:ext cx="4642961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Solution:</a:t>
            </a:r>
            <a:pPr algn="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Configured Auto Scaling Group with dynamic policies, automatically launching or terminating instances based on demand without manual intervention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30321" y="5838230"/>
            <a:ext cx="4936688" cy="1138833"/>
          </a:xfrm>
          <a:prstGeom prst="rect">
            <a:avLst/>
          </a:prstGeom>
          <a:solidFill>
            <a:srgbClr val="F0DEDC"/>
          </a:solidFill>
          <a:ln w="7620">
            <a:solidFill>
              <a:srgbClr val="421424"/>
            </a:solidFill>
            <a:prstDash val="solid"/>
          </a:ln>
          <a:effectLst>
            <a:outerShdw sx="100000" sy="100000" kx="0" ky="0" algn="bl" rotWithShape="0" blurRad="0" dist="17780" dir="2700000">
              <a:srgbClr val="421424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73315" y="5988844"/>
            <a:ext cx="2819162" cy="22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Challenge: Security Vulnerabilities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73315" y="6266378"/>
            <a:ext cx="464308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Solution: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Implemented security group chaining with least-privilege access, isolated components in VPC subnets, and encrypted communications between all layers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616" y="867013"/>
            <a:ext cx="7485578" cy="656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Key Results &amp; Future Roadmap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34616" y="2008584"/>
            <a:ext cx="3148727" cy="393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dirty="0">
                <a:solidFill>
                  <a:srgbClr val="FFB393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✓</a:t>
            </a:r>
            <a:pPr algn="l" indent="0" marL="0">
              <a:lnSpc>
                <a:spcPts val="3050"/>
              </a:lnSpc>
              <a:buNone/>
            </a:pPr>
            <a:r>
              <a:rPr lang="en-US" sz="2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 Achieved Goals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734616" y="2596396"/>
            <a:ext cx="6324600" cy="2279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High availability with Multi-AZ deployment</a:t>
            </a:r>
            <a:endParaRPr lang="en-US" sz="16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Automatic scaling from 0 to 5 instances</a:t>
            </a:r>
            <a:endParaRPr lang="en-US" sz="16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Secure architecture with layered security</a:t>
            </a:r>
            <a:endParaRPr lang="en-US" sz="16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Fault-tolerant system with self-healing</a:t>
            </a:r>
            <a:endParaRPr lang="en-US" sz="16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Data persistence through EFS</a:t>
            </a:r>
            <a:endParaRPr lang="en-US" sz="16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Efficient resource utilization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578804" y="2008584"/>
            <a:ext cx="3463885" cy="393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dirty="0">
                <a:solidFill>
                  <a:srgbClr val="FFB393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→</a:t>
            </a:r>
            <a:pPr algn="l" indent="0" marL="0">
              <a:lnSpc>
                <a:spcPts val="3050"/>
              </a:lnSpc>
              <a:buNone/>
            </a:pPr>
            <a:r>
              <a:rPr lang="en-US" sz="2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 Future Enhancements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7578804" y="2596396"/>
            <a:ext cx="6324600" cy="2279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Implement HTTPS/SSL using AWS Certificate Manager</a:t>
            </a:r>
            <a:endParaRPr lang="en-US" sz="16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Configure custom domain with Route 53</a:t>
            </a:r>
            <a:endParaRPr lang="en-US" sz="16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Add CloudWatch monitoring and alerts</a:t>
            </a:r>
            <a:endParaRPr lang="en-US" sz="16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Build CI/CD pipeline with CodePipeline</a:t>
            </a:r>
            <a:endParaRPr lang="en-US" sz="16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Implement database tier with RDS</a:t>
            </a:r>
            <a:endParaRPr lang="en-US" sz="16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Add caching layer with ElastiCache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34616" y="5267179"/>
            <a:ext cx="13161169" cy="33814"/>
          </a:xfrm>
          <a:prstGeom prst="rect">
            <a:avLst/>
          </a:prstGeom>
          <a:solidFill>
            <a:srgbClr val="6F655D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4616" y="5519380"/>
            <a:ext cx="13161169" cy="646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Conclusion: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Successfully built a production-ready AWS architecture demonstrating scalability, high availability, and security best practices. This implementation provides a foundation for enterprise-grade web applications with automated scaling and fault tolerance.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34616" y="6457236"/>
            <a:ext cx="7242096" cy="905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100"/>
              </a:lnSpc>
              <a:buNone/>
            </a:pPr>
            <a:r>
              <a:rPr lang="en-US" sz="5700" dirty="0">
                <a:solidFill>
                  <a:srgbClr val="FFB393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Thank You</a:t>
            </a:r>
            <a:endParaRPr lang="en-US" sz="5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2026-03-18T09:59:42Z</dcterms:created>
  <dcterms:modified xsi:type="dcterms:W3CDTF">2026-03-18T09:59:42Z</dcterms:modified>
</cp:coreProperties>
</file>